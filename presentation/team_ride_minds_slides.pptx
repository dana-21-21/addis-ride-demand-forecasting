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  <p:embeddedFont>
      <p:font typeface="S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2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1092200"/>
            <a:ext cx="7238819" cy="4445000"/>
          </a:xfrm>
          <a:prstGeom prst="roundRect">
            <a:avLst>
              <a:gd name="adj" fmla="val 5486"/>
            </a:avLst>
          </a:prstGeom>
          <a:solidFill>
            <a:srgbClr val="083C35"/>
          </a:solidFill>
          <a:ln/>
          <a:effectLst>
            <a:outerShdw sx="100000" sy="100000" kx="0" ky="0" algn="bl" rotWithShape="0" blurRad="354330" dist="125730" dir="5400000">
              <a:srgbClr val="083c3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17572" y="1498600"/>
            <a:ext cx="6375241" cy="161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spc="-80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Forecast hourly ride demand across Addis Ababa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17572" y="3342580"/>
            <a:ext cx="6375241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ride-hailing company needs to know how many trips riders will request in each of 12 zones, for every hour of 1–14 November 2025 — so drivers can be in the right place at the right time.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7572" y="4388545"/>
            <a:ext cx="6984825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Goal: Clean → analyze → model → ship a working ops demo.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81000"/>
            <a:ext cx="11124922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One clock, one grain: zone × hour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33387" y="1092696"/>
            <a:ext cx="3505112" cy="5435104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0080" y="1333996"/>
            <a:ext cx="2971726" cy="592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b="1" spc="-44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Three raw tables to combine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0080" y="2180134"/>
            <a:ext cx="2971726" cy="3403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Trip history: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Hourly trips per zone (Jan–Oct 2025) — the target we learn from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Weather (hourly):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Temp, rain, humidity, wind — rain lifts demand, but clocks must match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Events calendar: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Holidays, matches, concerts, closures — local spikes around venues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43291" y="1092696"/>
            <a:ext cx="3505112" cy="5435104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7" name="Text 5"/>
          <p:cNvSpPr/>
          <p:nvPr/>
        </p:nvSpPr>
        <p:spPr>
          <a:xfrm>
            <a:off x="4597285" y="1321296"/>
            <a:ext cx="2997125" cy="296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b="1" spc="-44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 clock problem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97285" y="1871365"/>
            <a:ext cx="2997125" cy="3169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Trip hours: already EAT (UTC+3)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Weather ...Z timestamps: UTC → convert +3h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Proof: temperature peaks at 15:00 after conversion, not 12:00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Mis-aligning by 3–5 hours kills the rain–demand signal.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53196" y="1092696"/>
            <a:ext cx="3505112" cy="5435104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9889" y="1333996"/>
            <a:ext cx="2971726" cy="296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b="1" spc="-44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Join audit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9889" y="1884065"/>
            <a:ext cx="2971726" cy="3169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rows before → after joins: 84,614 → 84,614 (no duplication)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Weather match rate: ~89% (gaps filled with ffill/bfill)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Confirmed events matched ≥1 zone-hour: 151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Unmatched / cancelled excluded: 8 unmatched · 6 cancelled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81000"/>
            <a:ext cx="11124922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b="1" spc="-64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Demand is growing — and rain and events are not the same everywhere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33387" y="1496417"/>
            <a:ext cx="533386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300" b="1" spc="-46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Demand is growing — November needs a trend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3387" y="2369542"/>
            <a:ext cx="2590735" cy="2328664"/>
          </a:xfrm>
          <a:prstGeom prst="roundRect">
            <a:avLst>
              <a:gd name="adj" fmla="val 9162"/>
            </a:avLst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331" y="2579092"/>
            <a:ext cx="212084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75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~44.8k → ~65.9k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331" y="3595092"/>
            <a:ext cx="2120847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Weekly city trips: ~44.8k → ~65.9k (+47% Jan→Oct)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76518" y="2369542"/>
            <a:ext cx="2590735" cy="2328664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8" name="Text 6"/>
          <p:cNvSpPr/>
          <p:nvPr/>
        </p:nvSpPr>
        <p:spPr>
          <a:xfrm>
            <a:off x="3505112" y="2547342"/>
            <a:ext cx="2133547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January-level baseline would under-predict November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3387" y="4847431"/>
            <a:ext cx="533386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Keep: trend_day + recent lags (≥14 days back)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24442" y="1496417"/>
            <a:ext cx="533386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300" b="1" spc="-46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Rain and events are real — but not everywhere the same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2" y="2369542"/>
          <a:ext cx="5333867" cy="914400"/>
        </p:xfrm>
        <a:graphic>
          <a:graphicData uri="http://schemas.openxmlformats.org/drawingml/2006/table">
            <a:tbl>
              <a:tblPr/>
              <a:tblGrid>
                <a:gridCol w="2986906"/>
                <a:gridCol w="2346961"/>
              </a:tblGrid>
              <a:tr h="9211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Rainy vs dry lifts transport/residential (~×1.3) but cuts Merkato (market) to ×0.83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Football: post-match 2h uplift ×2.85 &gt; pre ×2.17 &gt; during ×1.44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8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Holidays: most reduce demand (Genna ×0.72); Adwa holds flat/up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 what: calendar-only models miss the biggest operational surprises.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30200"/>
            <a:ext cx="11226519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b="1" spc="-64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Beat seasonality, then prove it over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82588" y="1243509"/>
            <a:ext cx="3538945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spc="-42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Baselines (18–31 Oct)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588" y="1780183"/>
          <a:ext cx="3538945" cy="914400"/>
        </p:xfrm>
        <a:graphic>
          <a:graphicData uri="http://schemas.openxmlformats.org/drawingml/2006/table">
            <a:tbl>
              <a:tblPr/>
              <a:tblGrid>
                <a:gridCol w="2123327"/>
                <a:gridCol w="1415618"/>
              </a:tblGrid>
              <a:tr h="6758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 predictor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RMSE 29.47; MAE 20.89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31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Seasonal naive (zone × dow × hour)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RMSE 15.36; MAE 7.44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2588" y="3347839"/>
            <a:ext cx="3538945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spc="-42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Candidates (same split)</a:t>
            </a:r>
            <a:endParaRPr lang="en-US" sz="2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588" y="3884513"/>
          <a:ext cx="3538945" cy="914400"/>
        </p:xfrm>
        <a:graphic>
          <a:graphicData uri="http://schemas.openxmlformats.org/drawingml/2006/table">
            <a:tbl>
              <a:tblPr/>
              <a:tblGrid>
                <a:gridCol w="2035719"/>
                <a:gridCol w="1503226"/>
              </a:tblGrid>
              <a:tr h="9211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Ridge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RMSE 14.93; weak on interactions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8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LightGBM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RMSE 13.69; fast to tune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8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HistGradientBoosting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RMSE 13.61; best single split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326325" y="1014909"/>
            <a:ext cx="3538945" cy="5849739"/>
          </a:xfrm>
          <a:prstGeom prst="roundRect">
            <a:avLst>
              <a:gd name="adj" fmla="val 6029"/>
            </a:avLst>
          </a:prstGeom>
          <a:solidFill>
            <a:srgbClr val="FFFFFF"/>
          </a:solidFill>
          <a:ln w="25399">
            <a:solidFill>
              <a:srgbClr val="CBCFC0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54920" y="1218109"/>
            <a:ext cx="3081756" cy="565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spc="-42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Ablation (rolling RMSE)</a:t>
            </a:r>
            <a:endParaRPr lang="en-US" sz="2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54920" y="2037457"/>
          <a:ext cx="3081757" cy="914400"/>
        </p:xfrm>
        <a:graphic>
          <a:graphicData uri="http://schemas.openxmlformats.org/drawingml/2006/table">
            <a:tbl>
              <a:tblPr/>
              <a:tblGrid>
                <a:gridCol w="1787381"/>
                <a:gridCol w="1294375"/>
              </a:tblGrid>
              <a:tr h="6758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Calendar + zone + trend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16.43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58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 weather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15.87 (−0.56)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58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 events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15.53 (−0.90)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8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 both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14.96 (−1.48, −9%)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8170063" y="1014909"/>
            <a:ext cx="3539044" cy="5849739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1" name="Text 6"/>
          <p:cNvSpPr/>
          <p:nvPr/>
        </p:nvSpPr>
        <p:spPr>
          <a:xfrm>
            <a:off x="8373258" y="1192709"/>
            <a:ext cx="3132654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model: LightGBM + weather + events + 14-day-safe lags (chosen for speed/tuneability; accuracy within noise of HistGB).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373258" y="2910582"/>
            <a:ext cx="3132654" cy="565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spc="-42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Rolling-origin (4 fortnights)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8373258" y="3729930"/>
            <a:ext cx="3132654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LightGBM: 14.96 ± 2.16 RMSE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Seasonal naive: 16.77 ± 1.39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Wins 4/4 folds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373258" y="5495429"/>
            <a:ext cx="3132654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Hygiene: chronological splits only · no ops leakage · weather + event features required · nothing fitted on test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55600"/>
            <a:ext cx="8838979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b="1" spc="-64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Where we miss — and what we shipped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33387" y="1040309"/>
            <a:ext cx="4551546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spc="-42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Error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87" y="1576983"/>
            <a:ext cx="4551546" cy="250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scales with volume: Merkato RMSE highest; MAE ~19–23% of mean demand across zones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errors: rows with ~10× trips vs drivers → suspected corrupted targets (not real demand)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Fix: drop suspect targets in training → clean rolling RMSE 10.07 → 9.60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3387" y="4315420"/>
            <a:ext cx="4551546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spc="-42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Final validation score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33387" y="4852095"/>
            <a:ext cx="4551546" cy="659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RMSE: 9.60 clean rows; 14.72 all rows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MAE: 6.20 clean rows; 6.54 all rows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3387" y="5660529"/>
            <a:ext cx="4551546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plain language: typically off by ~6 trips/zone-hour (~19%) ≈ ~5 drivers (at 1.3 trips/driver-hour).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89626" y="1040309"/>
            <a:ext cx="3982640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spc="-42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Demo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389626" y="1576983"/>
            <a:ext cx="3982640" cy="254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Live: https://addis-ride-demand-forecasting-mjc8skkfdzkgtw6nstthdp.streamlit.app/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Local: streamlit run app/app.py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a zone + date (1–14 Nov) → hourly forecast, peak hour, drivers needed, expected fares, weather/events looked up automatically.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89626" y="4347170"/>
            <a:ext cx="3982640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spc="-42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What we’d try next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389626" y="4883845"/>
            <a:ext cx="3982640" cy="191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Zone-specific holiday effects (not one binary flag)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Stronger handling of unlisted spikes / monitoring for drift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Quantile forecasts for driver buffer planning (80% band already in demo)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753356" y="0"/>
            <a:ext cx="2438339" cy="7102773"/>
          </a:xfrm>
          <a:prstGeom prst="rect">
            <a:avLst/>
          </a:prstGeom>
          <a:solidFill>
            <a:srgbClr val="083C3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356" y="0"/>
            <a:ext cx="2438339" cy="71027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2026-10-06T15:18:50Z</dcterms:created>
  <dcterms:modified xsi:type="dcterms:W3CDTF">2026-10-06T15:18:50Z</dcterms:modified>
</cp:coreProperties>
</file>